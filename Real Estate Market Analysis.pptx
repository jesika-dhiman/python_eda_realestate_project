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59" r:id="rId6"/>
    <p:sldId id="270" r:id="rId7"/>
    <p:sldId id="260" r:id="rId8"/>
    <p:sldId id="261" r:id="rId9"/>
    <p:sldId id="262" r:id="rId10"/>
    <p:sldId id="263" r:id="rId11"/>
    <p:sldId id="264" r:id="rId12"/>
    <p:sldId id="265" r:id="rId13"/>
    <p:sldId id="271"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9B2C-FD37-435E-A4DB-9A464EAA63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1375BA-0485-4F7D-8394-A4DB7777F9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1A9BE6-2650-4273-A5AC-0C0A800274EB}"/>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D1243EA6-9B8B-4E2D-8C94-6E08CFFDDC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F81201-6F01-42A6-BE6F-52102FE8CA14}"/>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40203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506C-894D-4A2D-B2F4-C651E3EE1C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844185-26DD-4788-9060-09C36BB5EC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98AC07-18AF-4FD4-9F01-62015A8B42F6}"/>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E5C6FDF9-D0BC-4B6C-833E-A6D7EB8AB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2BC86D-F5D8-41BA-92A3-ED1A641C2B12}"/>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59630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BE69-0B51-4DC3-9BEE-0E59F0FE5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309E42-7BB8-4893-A908-00046CA5FE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8C0D8-CA8E-40C9-B19A-C1940FA69529}"/>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027F0CD0-EEDE-4513-9870-2B5F5DA8DB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9666AD-BF8A-4EFF-A8E3-1BB1FE524251}"/>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5734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F83AF-928C-44F8-BC29-9F5734A326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203676-277C-4331-8106-25EE038EEE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48305C-ED0C-4D11-9651-59BE15B83E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9B9C76-91A3-41CB-A460-56DB77638756}"/>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6" name="Footer Placeholder 5">
            <a:extLst>
              <a:ext uri="{FF2B5EF4-FFF2-40B4-BE49-F238E27FC236}">
                <a16:creationId xmlns:a16="http://schemas.microsoft.com/office/drawing/2014/main" id="{FDDF17AB-3929-48C6-AAF0-C2FF90B68B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10876A-A8E5-4254-B63A-1F0E8FB71781}"/>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1524616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D591-60F7-41E6-9A20-B9FC96A10D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58B8A6-07DC-4819-94B9-38599E890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D05198-D705-418F-893B-94CF5F34CF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FBD8E3-6468-449B-B5DD-9D474DA7B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CC0FDD-0173-4D48-ABC5-2F8D2DCEE9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204130-D550-4FB6-A265-FA9529317A57}"/>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8" name="Footer Placeholder 7">
            <a:extLst>
              <a:ext uri="{FF2B5EF4-FFF2-40B4-BE49-F238E27FC236}">
                <a16:creationId xmlns:a16="http://schemas.microsoft.com/office/drawing/2014/main" id="{A6E34A2A-1CDC-4DEF-B820-0C359CA3A7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B2007D-5CAE-4F08-9BE1-D5A2E30F70E9}"/>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41577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E9A7A-5726-49B9-85BA-1EC2098FD1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011FC0-A9F6-4D88-BAD7-ED1800BAE018}"/>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4" name="Footer Placeholder 3">
            <a:extLst>
              <a:ext uri="{FF2B5EF4-FFF2-40B4-BE49-F238E27FC236}">
                <a16:creationId xmlns:a16="http://schemas.microsoft.com/office/drawing/2014/main" id="{70902CE0-5E92-4ADB-8129-9C71A5F26C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0D1FB0-06E5-46A2-ADA9-D6CED383EA4B}"/>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90878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440BFA-2F9B-4BA8-959E-377D596D5771}"/>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3" name="Footer Placeholder 2">
            <a:extLst>
              <a:ext uri="{FF2B5EF4-FFF2-40B4-BE49-F238E27FC236}">
                <a16:creationId xmlns:a16="http://schemas.microsoft.com/office/drawing/2014/main" id="{A3AAE7EF-9D73-4C81-B5F8-423200E3E4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776B07-ED6D-48C6-8643-3576328D31E4}"/>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901463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A20BF-840F-430A-B842-3ECAEE455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2FF8CE-8C12-4F4B-B4A9-C2F9795A6D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2383B6-B320-487D-B71F-BEFB6F7CBA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5287B-CE32-463C-B006-5DD29689492E}"/>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6" name="Footer Placeholder 5">
            <a:extLst>
              <a:ext uri="{FF2B5EF4-FFF2-40B4-BE49-F238E27FC236}">
                <a16:creationId xmlns:a16="http://schemas.microsoft.com/office/drawing/2014/main" id="{DCDDDAB3-1C89-4A95-B704-D13055462E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A96775-DEA4-446C-A2EB-024D480F217B}"/>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2302083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CF48-F2EE-4EAA-9811-DE7E6D8C7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AD9C3C-E18E-40C4-A5FD-31CBC7A1F4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03FDD5-D4B4-4988-B1E5-E6116AA28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F0F56-803B-43CC-BEE4-42B258FB97FE}"/>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6" name="Footer Placeholder 5">
            <a:extLst>
              <a:ext uri="{FF2B5EF4-FFF2-40B4-BE49-F238E27FC236}">
                <a16:creationId xmlns:a16="http://schemas.microsoft.com/office/drawing/2014/main" id="{45465A42-F44F-4F50-8437-52F2F2D957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B9D6BF-9BEF-4656-8CFC-0FB24F1B940F}"/>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152585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E799-7F7F-4607-A8C1-98B58D3BF7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CC8BD3-6393-42F3-8ECE-0EABE50F2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9CDBE-DA7B-4F55-B28A-867EDD74055A}"/>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9A86A543-86A6-4271-99CD-3F3BC4468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B9D934-CEBD-476F-A67C-0C5BB29E5D53}"/>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67569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B78A00-C324-4525-9D6F-99B766D423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973863-3423-4908-B244-DF43E5DD73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1EB7C-12F8-4667-B461-F38524F49476}"/>
              </a:ext>
            </a:extLst>
          </p:cNvPr>
          <p:cNvSpPr>
            <a:spLocks noGrp="1"/>
          </p:cNvSpPr>
          <p:nvPr>
            <p:ph type="dt" sz="half" idx="10"/>
          </p:nvPr>
        </p:nvSpPr>
        <p:spPr/>
        <p:txBody>
          <a:body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6FB19A9E-7C76-462D-A7FD-A407DCF73A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1F1ED8-39FB-4A3C-A6F7-83C4DDA1B798}"/>
              </a:ext>
            </a:extLst>
          </p:cNvPr>
          <p:cNvSpPr>
            <a:spLocks noGrp="1"/>
          </p:cNvSpPr>
          <p:nvPr>
            <p:ph type="sldNum" sz="quarter" idx="12"/>
          </p:nvPr>
        </p:nvSpPr>
        <p:spPr/>
        <p:txBody>
          <a:bodyPr/>
          <a:lstStyle/>
          <a:p>
            <a:fld id="{44FB1698-BED5-4E29-9937-8AD69CB35C30}" type="slidenum">
              <a:rPr lang="en-IN" smtClean="0"/>
              <a:t>‹#›</a:t>
            </a:fld>
            <a:endParaRPr lang="en-IN"/>
          </a:p>
        </p:txBody>
      </p:sp>
    </p:spTree>
    <p:extLst>
      <p:ext uri="{BB962C8B-B14F-4D97-AF65-F5344CB8AC3E}">
        <p14:creationId xmlns:p14="http://schemas.microsoft.com/office/powerpoint/2010/main" val="156174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9E2EBC-50F2-4A06-A194-78D4E98166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763E01-04CE-4F74-8027-84DEE71CD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650B2-D2EF-4EF1-A218-C04A56867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0DF71-C57D-4E55-8F33-636E53B68DDB}" type="datetimeFigureOut">
              <a:rPr lang="en-IN" smtClean="0"/>
              <a:t>27-02-2026</a:t>
            </a:fld>
            <a:endParaRPr lang="en-IN"/>
          </a:p>
        </p:txBody>
      </p:sp>
      <p:sp>
        <p:nvSpPr>
          <p:cNvPr id="5" name="Footer Placeholder 4">
            <a:extLst>
              <a:ext uri="{FF2B5EF4-FFF2-40B4-BE49-F238E27FC236}">
                <a16:creationId xmlns:a16="http://schemas.microsoft.com/office/drawing/2014/main" id="{B3D7C136-3158-4000-9187-614A2A0BCB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B2249BB-76BD-47FC-BC09-768A2608F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FB1698-BED5-4E29-9937-8AD69CB35C30}" type="slidenum">
              <a:rPr lang="en-IN" smtClean="0"/>
              <a:t>‹#›</a:t>
            </a:fld>
            <a:endParaRPr lang="en-IN"/>
          </a:p>
        </p:txBody>
      </p:sp>
    </p:spTree>
    <p:extLst>
      <p:ext uri="{BB962C8B-B14F-4D97-AF65-F5344CB8AC3E}">
        <p14:creationId xmlns:p14="http://schemas.microsoft.com/office/powerpoint/2010/main" val="84249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nikhilmehrahr26/gurgaon-real-estate-dataset?resource=downloa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7B94-EA53-479A-A1B8-E88BE3536C3D}"/>
              </a:ext>
            </a:extLst>
          </p:cNvPr>
          <p:cNvSpPr>
            <a:spLocks noGrp="1"/>
          </p:cNvSpPr>
          <p:nvPr>
            <p:ph type="ctrTitle"/>
          </p:nvPr>
        </p:nvSpPr>
        <p:spPr>
          <a:xfrm>
            <a:off x="1524000" y="638175"/>
            <a:ext cx="9144000" cy="2038350"/>
          </a:xfrm>
        </p:spPr>
        <p:txBody>
          <a:bodyPr>
            <a:normAutofit/>
          </a:bodyPr>
          <a:lstStyle/>
          <a:p>
            <a:r>
              <a:rPr lang="en-GB" sz="4400" b="1" i="1" dirty="0">
                <a:solidFill>
                  <a:schemeClr val="accent5">
                    <a:lumMod val="50000"/>
                  </a:schemeClr>
                </a:solidFill>
                <a:effectLst/>
                <a:latin typeface="Arial" panose="020B0604020202020204" pitchFamily="34" charset="0"/>
                <a:ea typeface="Calibri" panose="020F0502020204030204" pitchFamily="34" charset="0"/>
                <a:cs typeface="Arial" panose="020B0604020202020204" pitchFamily="34" charset="0"/>
              </a:rPr>
              <a:t>Real Estate Market Analysis</a:t>
            </a:r>
            <a:endParaRPr lang="en-IN" sz="4400" dirty="0">
              <a:solidFill>
                <a:schemeClr val="accent5">
                  <a:lumMod val="50000"/>
                </a:schemeClr>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E42851D-C56E-4BFC-BD57-E9199EFD7575}"/>
              </a:ext>
            </a:extLst>
          </p:cNvPr>
          <p:cNvSpPr>
            <a:spLocks noGrp="1"/>
          </p:cNvSpPr>
          <p:nvPr>
            <p:ph type="subTitle" idx="1"/>
          </p:nvPr>
        </p:nvSpPr>
        <p:spPr>
          <a:xfrm>
            <a:off x="1524000" y="2962275"/>
            <a:ext cx="9144000" cy="1304924"/>
          </a:xfrm>
        </p:spPr>
        <p:txBody>
          <a:bodyPr>
            <a:normAutofit/>
          </a:bodyPr>
          <a:lstStyle/>
          <a:p>
            <a:r>
              <a:rPr lang="en-GB" sz="4400" b="1" i="1" u="sng" dirty="0">
                <a:solidFill>
                  <a:schemeClr val="accent5">
                    <a:lumMod val="50000"/>
                  </a:schemeClr>
                </a:solidFill>
                <a:effectLst/>
                <a:latin typeface="Times New Roman" panose="02020603050405020304" pitchFamily="18" charset="0"/>
                <a:ea typeface="Calibri" panose="020F0502020204030204" pitchFamily="34" charset="0"/>
              </a:rPr>
              <a:t>(</a:t>
            </a:r>
            <a:r>
              <a:rPr lang="en-GB" sz="4000" b="1" i="1" dirty="0">
                <a:solidFill>
                  <a:schemeClr val="accent5">
                    <a:lumMod val="50000"/>
                  </a:schemeClr>
                </a:solidFill>
                <a:effectLst/>
                <a:latin typeface="Arial" panose="020B0604020202020204" pitchFamily="34" charset="0"/>
                <a:ea typeface="Calibri" panose="020F0502020204030204" pitchFamily="34" charset="0"/>
                <a:cs typeface="Arial" panose="020B0604020202020204" pitchFamily="34" charset="0"/>
              </a:rPr>
              <a:t>Gurgaon</a:t>
            </a:r>
            <a:r>
              <a:rPr lang="en-GB" sz="4400" b="1" i="1" u="sng" dirty="0">
                <a:solidFill>
                  <a:schemeClr val="accent5">
                    <a:lumMod val="50000"/>
                  </a:schemeClr>
                </a:solidFill>
                <a:effectLst/>
                <a:latin typeface="Times New Roman" panose="02020603050405020304" pitchFamily="18" charset="0"/>
                <a:ea typeface="Calibri" panose="020F0502020204030204" pitchFamily="34" charset="0"/>
              </a:rPr>
              <a:t>)</a:t>
            </a:r>
            <a:endParaRPr lang="en-IN" sz="4400" dirty="0">
              <a:solidFill>
                <a:schemeClr val="accent5">
                  <a:lumMod val="50000"/>
                </a:schemeClr>
              </a:solidFill>
            </a:endParaRPr>
          </a:p>
        </p:txBody>
      </p:sp>
    </p:spTree>
    <p:extLst>
      <p:ext uri="{BB962C8B-B14F-4D97-AF65-F5344CB8AC3E}">
        <p14:creationId xmlns:p14="http://schemas.microsoft.com/office/powerpoint/2010/main" val="183944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8D69-B6E0-492C-AF7D-E395B75E2D51}"/>
              </a:ext>
            </a:extLst>
          </p:cNvPr>
          <p:cNvSpPr>
            <a:spLocks noGrp="1"/>
          </p:cNvSpPr>
          <p:nvPr>
            <p:ph type="title"/>
          </p:nvPr>
        </p:nvSpPr>
        <p:spPr>
          <a:xfrm>
            <a:off x="838200" y="200025"/>
            <a:ext cx="10515600" cy="695325"/>
          </a:xfrm>
        </p:spPr>
        <p:txBody>
          <a:bodyPr>
            <a:normAutofit/>
          </a:bodyPr>
          <a:lstStyle/>
          <a:p>
            <a:pPr algn="ctr"/>
            <a:r>
              <a:rPr lang="en-GB" b="1" dirty="0">
                <a:solidFill>
                  <a:schemeClr val="accent5">
                    <a:lumMod val="50000"/>
                  </a:schemeClr>
                </a:solidFill>
                <a:latin typeface="Arial" panose="020B0604020202020204" pitchFamily="34" charset="0"/>
                <a:cs typeface="Arial" panose="020B0604020202020204" pitchFamily="34" charset="0"/>
              </a:rPr>
              <a:t>Business Background</a:t>
            </a:r>
            <a:endParaRPr lang="en-IN"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B8B6FE9-A432-479C-B82F-1233B478496A}"/>
              </a:ext>
            </a:extLst>
          </p:cNvPr>
          <p:cNvSpPr>
            <a:spLocks noGrp="1"/>
          </p:cNvSpPr>
          <p:nvPr>
            <p:ph idx="1"/>
          </p:nvPr>
        </p:nvSpPr>
        <p:spPr>
          <a:xfrm>
            <a:off x="466725" y="895350"/>
            <a:ext cx="11506200" cy="5762625"/>
          </a:xfrm>
        </p:spPr>
        <p:txBody>
          <a:bodyPr>
            <a:normAutofit fontScale="25000" lnSpcReduction="20000"/>
          </a:bodyPr>
          <a:lstStyle/>
          <a:p>
            <a:pPr marL="0" indent="0" algn="just">
              <a:lnSpc>
                <a:spcPct val="170000"/>
              </a:lnSpc>
              <a:buNone/>
            </a:pPr>
            <a:r>
              <a:rPr lang="en-GB" sz="8000" dirty="0">
                <a:latin typeface="Arial" panose="020B0604020202020204" pitchFamily="34" charset="0"/>
                <a:cs typeface="Arial" panose="020B0604020202020204" pitchFamily="34" charset="0"/>
              </a:rPr>
              <a:t>The real estate advisory firm operates in Gurgaon, one of the fastest-growing residential markets in India.</a:t>
            </a:r>
          </a:p>
          <a:p>
            <a:pPr marL="0" indent="0" algn="just">
              <a:lnSpc>
                <a:spcPct val="170000"/>
              </a:lnSpc>
              <a:buNone/>
            </a:pPr>
            <a:r>
              <a:rPr lang="en-GB" sz="8000" dirty="0">
                <a:latin typeface="Arial" panose="020B0604020202020204" pitchFamily="34" charset="0"/>
                <a:cs typeface="Arial" panose="020B0604020202020204" pitchFamily="34" charset="0"/>
              </a:rPr>
              <a:t>The firm has invested significant time and effort in collecting structured data on residential property listings across multiple sectors.</a:t>
            </a:r>
          </a:p>
          <a:p>
            <a:pPr marL="0" indent="0" algn="just">
              <a:lnSpc>
                <a:spcPct val="170000"/>
              </a:lnSpc>
              <a:buNone/>
            </a:pPr>
            <a:r>
              <a:rPr lang="en-GB" sz="8000" dirty="0">
                <a:latin typeface="Arial" panose="020B0604020202020204" pitchFamily="34" charset="0"/>
                <a:cs typeface="Arial" panose="020B0604020202020204" pitchFamily="34" charset="0"/>
              </a:rPr>
              <a:t>The objective is to provide data-driven insights to:</a:t>
            </a:r>
          </a:p>
          <a:p>
            <a:pPr algn="just">
              <a:lnSpc>
                <a:spcPct val="170000"/>
              </a:lnSpc>
            </a:pPr>
            <a:r>
              <a:rPr lang="en-GB" sz="8000" dirty="0">
                <a:latin typeface="Arial" panose="020B0604020202020204" pitchFamily="34" charset="0"/>
                <a:cs typeface="Arial" panose="020B0604020202020204" pitchFamily="34" charset="0"/>
              </a:rPr>
              <a:t> Home buyers seeking safe and value-driven investments.</a:t>
            </a:r>
          </a:p>
          <a:p>
            <a:pPr algn="just">
              <a:lnSpc>
                <a:spcPct val="170000"/>
              </a:lnSpc>
            </a:pPr>
            <a:r>
              <a:rPr lang="en-GB" sz="8000" dirty="0">
                <a:latin typeface="Arial" panose="020B0604020202020204" pitchFamily="34" charset="0"/>
                <a:cs typeface="Arial" panose="020B0604020202020204" pitchFamily="34" charset="0"/>
              </a:rPr>
              <a:t>Investors looking for stable and high-return opportunities.</a:t>
            </a:r>
          </a:p>
          <a:p>
            <a:pPr algn="just">
              <a:lnSpc>
                <a:spcPct val="170000"/>
              </a:lnSpc>
            </a:pPr>
            <a:r>
              <a:rPr lang="en-GB" sz="8000" dirty="0">
                <a:latin typeface="Arial" panose="020B0604020202020204" pitchFamily="34" charset="0"/>
                <a:cs typeface="Arial" panose="020B0604020202020204" pitchFamily="34" charset="0"/>
              </a:rPr>
              <a:t>Developers planning future residential projects Given the dynamic pricing structure, varying property types, and regulatory factors such as RERA approval, a structured analytical approach is required to guide informed real estate decisions.</a:t>
            </a:r>
          </a:p>
          <a:p>
            <a:pPr marL="0" indent="0" algn="just">
              <a:lnSpc>
                <a:spcPct val="170000"/>
              </a:lnSpc>
              <a:buNone/>
            </a:pPr>
            <a:r>
              <a:rPr lang="en-IN" sz="8000" u="sng" dirty="0">
                <a:solidFill>
                  <a:srgbClr val="0000FF"/>
                </a:solidFill>
                <a:effectLst/>
                <a:latin typeface="Arial" panose="020B0604020202020204" pitchFamily="34" charset="0"/>
                <a:ea typeface="Calibri" panose="020F0502020204030204" pitchFamily="34" charset="0"/>
                <a:cs typeface="Arial" panose="020B0604020202020204" pitchFamily="34" charset="0"/>
                <a:hlinkClick r:id="rId2"/>
              </a:rPr>
              <a:t>Gurgaon Real Estate Dataset of 2024</a:t>
            </a:r>
            <a:endParaRPr lang="en-IN" sz="8000" dirty="0">
              <a:latin typeface="Arial" panose="020B0604020202020204" pitchFamily="34" charset="0"/>
              <a:cs typeface="Arial" panose="020B0604020202020204" pitchFamily="34" charset="0"/>
            </a:endParaRPr>
          </a:p>
          <a:p>
            <a:pPr marL="0" indent="0" algn="just">
              <a:lnSpc>
                <a:spcPct val="170000"/>
              </a:lnSpc>
              <a:buNone/>
            </a:pPr>
            <a:endParaRPr lang="en-GB" sz="8000" dirty="0">
              <a:latin typeface="Arial" panose="020B0604020202020204" pitchFamily="34" charset="0"/>
              <a:cs typeface="Arial" panose="020B0604020202020204" pitchFamily="34" charset="0"/>
            </a:endParaRPr>
          </a:p>
          <a:p>
            <a:pPr marL="0" indent="0" algn="just">
              <a:lnSpc>
                <a:spcPct val="150000"/>
              </a:lnSpc>
              <a:buNone/>
            </a:pPr>
            <a:endParaRPr lang="en-IN" dirty="0"/>
          </a:p>
          <a:p>
            <a:pPr marL="0" indent="0" algn="just">
              <a:lnSpc>
                <a:spcPct val="150000"/>
              </a:lnSpc>
              <a:buNone/>
            </a:pPr>
            <a:endParaRPr lang="en-IN" dirty="0"/>
          </a:p>
          <a:p>
            <a:pPr marL="0" indent="0" algn="just">
              <a:lnSpc>
                <a:spcPct val="150000"/>
              </a:lnSpc>
              <a:buNone/>
            </a:pPr>
            <a:endParaRPr lang="en-IN" dirty="0"/>
          </a:p>
          <a:p>
            <a:pPr marL="0" indent="0" algn="just">
              <a:lnSpc>
                <a:spcPct val="150000"/>
              </a:lnSpc>
              <a:buNone/>
            </a:pPr>
            <a:endParaRPr lang="en-IN" dirty="0"/>
          </a:p>
          <a:p>
            <a:pPr marL="0" indent="0" algn="just">
              <a:lnSpc>
                <a:spcPct val="150000"/>
              </a:lnSpc>
              <a:buNone/>
            </a:pPr>
            <a:endParaRPr lang="en-IN" dirty="0"/>
          </a:p>
          <a:p>
            <a:pPr marL="0" indent="0" algn="just">
              <a:lnSpc>
                <a:spcPct val="150000"/>
              </a:lnSpc>
              <a:buNone/>
            </a:pPr>
            <a:endParaRPr lang="en-IN" dirty="0"/>
          </a:p>
          <a:p>
            <a:pPr marL="0" indent="0" algn="just">
              <a:lnSpc>
                <a:spcPct val="150000"/>
              </a:lnSpc>
              <a:buNone/>
            </a:pPr>
            <a:endParaRPr lang="en-IN" dirty="0"/>
          </a:p>
        </p:txBody>
      </p:sp>
    </p:spTree>
    <p:extLst>
      <p:ext uri="{BB962C8B-B14F-4D97-AF65-F5344CB8AC3E}">
        <p14:creationId xmlns:p14="http://schemas.microsoft.com/office/powerpoint/2010/main" val="91297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481C-82E5-485D-B86B-81FAEC02A91E}"/>
              </a:ext>
            </a:extLst>
          </p:cNvPr>
          <p:cNvSpPr>
            <a:spLocks noGrp="1"/>
          </p:cNvSpPr>
          <p:nvPr>
            <p:ph type="title"/>
          </p:nvPr>
        </p:nvSpPr>
        <p:spPr>
          <a:xfrm>
            <a:off x="838200" y="161926"/>
            <a:ext cx="10515600" cy="1276350"/>
          </a:xfrm>
        </p:spPr>
        <p:txBody>
          <a:bodyPr>
            <a:normAutofit/>
          </a:bodyPr>
          <a:lstStyle/>
          <a:p>
            <a:pPr algn="ctr"/>
            <a:r>
              <a:rPr lang="en-GB" b="1" dirty="0">
                <a:solidFill>
                  <a:schemeClr val="accent5">
                    <a:lumMod val="50000"/>
                  </a:schemeClr>
                </a:solidFill>
                <a:latin typeface="Arial" panose="020B0604020202020204" pitchFamily="34" charset="0"/>
                <a:ea typeface="Calibri" panose="020F0502020204030204" pitchFamily="34" charset="0"/>
                <a:cs typeface="Arial" panose="020B0604020202020204" pitchFamily="34" charset="0"/>
              </a:rPr>
              <a:t>Business Questions</a:t>
            </a:r>
            <a:endParaRPr lang="en-IN"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A297972-9F84-4E1B-A2B0-0A315AAAE78F}"/>
              </a:ext>
            </a:extLst>
          </p:cNvPr>
          <p:cNvSpPr>
            <a:spLocks noGrp="1"/>
          </p:cNvSpPr>
          <p:nvPr>
            <p:ph idx="1"/>
          </p:nvPr>
        </p:nvSpPr>
        <p:spPr>
          <a:xfrm>
            <a:off x="923925" y="1276350"/>
            <a:ext cx="10829925" cy="5419724"/>
          </a:xfrm>
        </p:spPr>
        <p:txBody>
          <a:bodyPr>
            <a:noAutofit/>
          </a:bodyPr>
          <a:lstStyle/>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Which locality has the </a:t>
            </a:r>
            <a:r>
              <a:rPr lang="en-IN" sz="2000" b="1" dirty="0">
                <a:effectLst/>
                <a:latin typeface="Arial" panose="020B0604020202020204" pitchFamily="34" charset="0"/>
                <a:ea typeface="Times New Roman" panose="02020603050405020304" pitchFamily="18" charset="0"/>
                <a:cs typeface="Arial" panose="020B0604020202020204" pitchFamily="34" charset="0"/>
              </a:rPr>
              <a:t>highest average price</a:t>
            </a:r>
            <a:r>
              <a:rPr lang="en-IN" sz="2000" dirty="0">
                <a:effectLst/>
                <a:latin typeface="Arial" panose="020B0604020202020204" pitchFamily="34" charset="0"/>
                <a:ea typeface="Times New Roman" panose="02020603050405020304" pitchFamily="18" charset="0"/>
                <a:cs typeface="Arial" panose="020B0604020202020204" pitchFamily="34" charset="0"/>
              </a:rPr>
              <a:t>?</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Which locality has the </a:t>
            </a:r>
            <a:r>
              <a:rPr lang="en-IN" sz="2000" b="1" dirty="0">
                <a:effectLst/>
                <a:latin typeface="Arial" panose="020B0604020202020204" pitchFamily="34" charset="0"/>
                <a:ea typeface="Times New Roman" panose="02020603050405020304" pitchFamily="18" charset="0"/>
                <a:cs typeface="Arial" panose="020B0604020202020204" pitchFamily="34" charset="0"/>
              </a:rPr>
              <a:t>highest rate per square foot</a:t>
            </a:r>
            <a:r>
              <a:rPr lang="en-IN" sz="2000" dirty="0">
                <a:effectLst/>
                <a:latin typeface="Arial" panose="020B0604020202020204" pitchFamily="34" charset="0"/>
                <a:ea typeface="Times New Roman" panose="02020603050405020304" pitchFamily="18" charset="0"/>
                <a:cs typeface="Arial" panose="020B0604020202020204" pitchFamily="34" charset="0"/>
              </a:rPr>
              <a:t>?</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Which builder sells most expensive properties?</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Does approval status increase property value?</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Which flat type is most demanded?</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 How does area impact price?</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n-GB" sz="2000" b="0" dirty="0">
                <a:solidFill>
                  <a:srgbClr val="000000"/>
                </a:solidFill>
                <a:effectLst/>
                <a:latin typeface="Arial" panose="020B0604020202020204" pitchFamily="34" charset="0"/>
                <a:cs typeface="Arial" panose="020B0604020202020204" pitchFamily="34" charset="0"/>
              </a:rPr>
              <a:t>Is there a statistically meaningful relationship between BHK configuration and property price?</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502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C272-400F-4DAB-8F0F-32E650091FB4}"/>
              </a:ext>
            </a:extLst>
          </p:cNvPr>
          <p:cNvSpPr>
            <a:spLocks noGrp="1"/>
          </p:cNvSpPr>
          <p:nvPr>
            <p:ph type="title"/>
          </p:nvPr>
        </p:nvSpPr>
        <p:spPr>
          <a:xfrm>
            <a:off x="838200" y="133352"/>
            <a:ext cx="10515600" cy="904874"/>
          </a:xfrm>
        </p:spPr>
        <p:txBody>
          <a:bodyPr/>
          <a:lstStyle/>
          <a:p>
            <a:pPr algn="ctr"/>
            <a:r>
              <a:rPr lang="en-GB" b="1" dirty="0">
                <a:solidFill>
                  <a:schemeClr val="accent5">
                    <a:lumMod val="50000"/>
                  </a:schemeClr>
                </a:solidFill>
                <a:latin typeface="Arial" panose="020B0604020202020204" pitchFamily="34" charset="0"/>
                <a:cs typeface="Arial" panose="020B0604020202020204" pitchFamily="34" charset="0"/>
              </a:rPr>
              <a:t>Data Overview</a:t>
            </a:r>
            <a:endParaRPr lang="en-IN" b="1"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CB85A15-7D3B-476F-A838-381B4EA9C156}"/>
              </a:ext>
            </a:extLst>
          </p:cNvPr>
          <p:cNvSpPr>
            <a:spLocks noGrp="1"/>
          </p:cNvSpPr>
          <p:nvPr>
            <p:ph idx="1"/>
          </p:nvPr>
        </p:nvSpPr>
        <p:spPr>
          <a:xfrm>
            <a:off x="466725" y="1181100"/>
            <a:ext cx="11315700" cy="5543549"/>
          </a:xfrm>
        </p:spPr>
        <p:txBody>
          <a:bodyPr>
            <a:noAutofit/>
          </a:bodyPr>
          <a:lstStyle/>
          <a:p>
            <a:pPr marL="0" indent="0">
              <a:buNone/>
            </a:pPr>
            <a:r>
              <a:rPr lang="en-GB" sz="2000" dirty="0">
                <a:latin typeface="Arial" panose="020B0604020202020204" pitchFamily="34" charset="0"/>
                <a:cs typeface="Arial" panose="020B0604020202020204" pitchFamily="34" charset="0"/>
              </a:rPr>
              <a:t>The dataset contains 19,516 records of real estate properties.</a:t>
            </a:r>
          </a:p>
          <a:p>
            <a:pPr marL="0" indent="0">
              <a:buNone/>
            </a:pPr>
            <a:r>
              <a:rPr lang="en-GB" sz="2000" dirty="0">
                <a:latin typeface="Arial" panose="020B0604020202020204" pitchFamily="34" charset="0"/>
                <a:cs typeface="Arial" panose="020B0604020202020204" pitchFamily="34" charset="0"/>
              </a:rPr>
              <a:t>Main columns in the dataset include:</a:t>
            </a:r>
          </a:p>
          <a:p>
            <a:r>
              <a:rPr lang="en-GB" sz="2000" dirty="0">
                <a:latin typeface="Arial" panose="020B0604020202020204" pitchFamily="34" charset="0"/>
                <a:cs typeface="Arial" panose="020B0604020202020204" pitchFamily="34" charset="0"/>
              </a:rPr>
              <a:t>Price</a:t>
            </a:r>
          </a:p>
          <a:p>
            <a:r>
              <a:rPr lang="en-GB" sz="2000" dirty="0">
                <a:latin typeface="Arial" panose="020B0604020202020204" pitchFamily="34" charset="0"/>
                <a:cs typeface="Arial" panose="020B0604020202020204" pitchFamily="34" charset="0"/>
              </a:rPr>
              <a:t>Status of property</a:t>
            </a:r>
          </a:p>
          <a:p>
            <a:r>
              <a:rPr lang="en-GB" sz="2000" dirty="0">
                <a:latin typeface="Arial" panose="020B0604020202020204" pitchFamily="34" charset="0"/>
                <a:cs typeface="Arial" panose="020B0604020202020204" pitchFamily="34" charset="0"/>
              </a:rPr>
              <a:t>Area </a:t>
            </a:r>
          </a:p>
          <a:p>
            <a:r>
              <a:rPr lang="en-GB" sz="2000" dirty="0">
                <a:latin typeface="Arial" panose="020B0604020202020204" pitchFamily="34" charset="0"/>
                <a:cs typeface="Arial" panose="020B0604020202020204" pitchFamily="34" charset="0"/>
              </a:rPr>
              <a:t>Rate per square feet</a:t>
            </a:r>
          </a:p>
          <a:p>
            <a:r>
              <a:rPr lang="en-GB" sz="2000" dirty="0">
                <a:latin typeface="Arial" panose="020B0604020202020204" pitchFamily="34" charset="0"/>
                <a:cs typeface="Arial" panose="020B0604020202020204" pitchFamily="34" charset="0"/>
              </a:rPr>
              <a:t>Property type</a:t>
            </a:r>
          </a:p>
          <a:p>
            <a:r>
              <a:rPr lang="en-GB" sz="2000" dirty="0">
                <a:latin typeface="Arial" panose="020B0604020202020204" pitchFamily="34" charset="0"/>
                <a:cs typeface="Arial" panose="020B0604020202020204" pitchFamily="34" charset="0"/>
              </a:rPr>
              <a:t>Locality name</a:t>
            </a:r>
          </a:p>
          <a:p>
            <a:r>
              <a:rPr lang="en-GB" sz="2000" dirty="0">
                <a:latin typeface="Arial" panose="020B0604020202020204" pitchFamily="34" charset="0"/>
                <a:cs typeface="Arial" panose="020B0604020202020204" pitchFamily="34" charset="0"/>
              </a:rPr>
              <a:t>RERA approval status</a:t>
            </a:r>
          </a:p>
          <a:p>
            <a:r>
              <a:rPr lang="en-GB" sz="2000" dirty="0">
                <a:latin typeface="Arial" panose="020B0604020202020204" pitchFamily="34" charset="0"/>
                <a:cs typeface="Arial" panose="020B0604020202020204" pitchFamily="34" charset="0"/>
              </a:rPr>
              <a:t>BHK count</a:t>
            </a:r>
          </a:p>
          <a:p>
            <a:r>
              <a:rPr lang="en-GB" sz="2000" dirty="0">
                <a:latin typeface="Arial" panose="020B0604020202020204" pitchFamily="34" charset="0"/>
                <a:cs typeface="Arial" panose="020B0604020202020204" pitchFamily="34" charset="0"/>
              </a:rPr>
              <a:t>Builder name</a:t>
            </a:r>
          </a:p>
          <a:p>
            <a:r>
              <a:rPr lang="en-GB" sz="2000" dirty="0">
                <a:latin typeface="Arial" panose="020B0604020202020204" pitchFamily="34" charset="0"/>
                <a:cs typeface="Arial" panose="020B0604020202020204" pitchFamily="34" charset="0"/>
              </a:rPr>
              <a:t>Society </a:t>
            </a:r>
          </a:p>
          <a:p>
            <a:r>
              <a:rPr lang="en-GB" sz="2000" dirty="0">
                <a:latin typeface="Arial" panose="020B0604020202020204" pitchFamily="34" charset="0"/>
                <a:cs typeface="Arial" panose="020B0604020202020204" pitchFamily="34" charset="0"/>
              </a:rPr>
              <a:t>company</a:t>
            </a:r>
          </a:p>
          <a:p>
            <a:r>
              <a:rPr lang="en-GB" sz="2000" dirty="0">
                <a:latin typeface="Arial" panose="020B0604020202020204" pitchFamily="34" charset="0"/>
                <a:cs typeface="Arial" panose="020B0604020202020204" pitchFamily="34" charset="0"/>
              </a:rPr>
              <a:t>flat type</a:t>
            </a: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0A1A131-D940-4EF3-AEDD-9CA511DB9F9D}"/>
              </a:ext>
            </a:extLst>
          </p:cNvPr>
          <p:cNvPicPr>
            <a:picLocks noChangeAspect="1"/>
          </p:cNvPicPr>
          <p:nvPr/>
        </p:nvPicPr>
        <p:blipFill>
          <a:blip r:embed="rId2"/>
          <a:stretch>
            <a:fillRect/>
          </a:stretch>
        </p:blipFill>
        <p:spPr>
          <a:xfrm>
            <a:off x="3667125" y="2200275"/>
            <a:ext cx="8115300" cy="3810000"/>
          </a:xfrm>
          <a:prstGeom prst="rect">
            <a:avLst/>
          </a:prstGeom>
          <a:ln>
            <a:solidFill>
              <a:schemeClr val="tx1">
                <a:lumMod val="95000"/>
                <a:lumOff val="5000"/>
              </a:schemeClr>
            </a:solidFill>
          </a:ln>
        </p:spPr>
      </p:pic>
    </p:spTree>
    <p:extLst>
      <p:ext uri="{BB962C8B-B14F-4D97-AF65-F5344CB8AC3E}">
        <p14:creationId xmlns:p14="http://schemas.microsoft.com/office/powerpoint/2010/main" val="329191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1635-559F-4160-BE91-4CD757DA6F0D}"/>
              </a:ext>
            </a:extLst>
          </p:cNvPr>
          <p:cNvSpPr>
            <a:spLocks noGrp="1"/>
          </p:cNvSpPr>
          <p:nvPr>
            <p:ph type="title"/>
          </p:nvPr>
        </p:nvSpPr>
        <p:spPr>
          <a:xfrm>
            <a:off x="838200" y="123826"/>
            <a:ext cx="10515600" cy="1123950"/>
          </a:xfrm>
        </p:spPr>
        <p:txBody>
          <a:bodyPr>
            <a:normAutofit/>
          </a:bodyPr>
          <a:lstStyle/>
          <a:p>
            <a:pPr algn="ctr"/>
            <a:r>
              <a:rPr lang="en-IN" b="1" dirty="0">
                <a:solidFill>
                  <a:schemeClr val="accent5">
                    <a:lumMod val="50000"/>
                  </a:schemeClr>
                </a:solidFill>
                <a:effectLst/>
                <a:latin typeface="Arial" panose="020B0604020202020204" pitchFamily="34" charset="0"/>
                <a:ea typeface="Times New Roman" panose="02020603050405020304" pitchFamily="18" charset="0"/>
                <a:cs typeface="Arial" panose="020B0604020202020204" pitchFamily="34" charset="0"/>
              </a:rPr>
              <a:t>Solution Overview</a:t>
            </a:r>
            <a:endParaRPr lang="en-IN" b="1"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659A87D-3ED1-4B39-8389-BA1458D221FA}"/>
              </a:ext>
            </a:extLst>
          </p:cNvPr>
          <p:cNvSpPr>
            <a:spLocks noGrp="1"/>
          </p:cNvSpPr>
          <p:nvPr>
            <p:ph idx="1"/>
          </p:nvPr>
        </p:nvSpPr>
        <p:spPr>
          <a:xfrm>
            <a:off x="628650" y="1181100"/>
            <a:ext cx="10725150" cy="5676899"/>
          </a:xfrm>
        </p:spPr>
        <p:txBody>
          <a:bodyPr>
            <a:noAutofit/>
          </a:bodyPr>
          <a:lstStyle/>
          <a:p>
            <a:pPr marL="0" indent="0" algn="just">
              <a:lnSpc>
                <a:spcPct val="150000"/>
              </a:lnSpc>
              <a:spcAft>
                <a:spcPts val="1600"/>
              </a:spcAft>
              <a:buNone/>
            </a:pPr>
            <a:r>
              <a:rPr lang="en-IN" sz="2000" dirty="0">
                <a:effectLst/>
                <a:latin typeface="Arial" panose="020B0604020202020204" pitchFamily="34" charset="0"/>
                <a:ea typeface="Times New Roman" panose="02020603050405020304" pitchFamily="18" charset="0"/>
                <a:cs typeface="Arial" panose="020B0604020202020204" pitchFamily="34" charset="0"/>
              </a:rPr>
              <a:t>We will solve this problem using </a:t>
            </a:r>
            <a:r>
              <a:rPr lang="en-IN" sz="2000" b="1" dirty="0">
                <a:effectLst/>
                <a:latin typeface="Arial" panose="020B0604020202020204" pitchFamily="34" charset="0"/>
                <a:ea typeface="Times New Roman" panose="02020603050405020304" pitchFamily="18" charset="0"/>
                <a:cs typeface="Arial" panose="020B0604020202020204" pitchFamily="34" charset="0"/>
              </a:rPr>
              <a:t>Exploratory Data Analysis (EDA)</a:t>
            </a:r>
            <a:r>
              <a:rPr lang="en-IN" sz="2000" dirty="0">
                <a:effectLst/>
                <a:latin typeface="Arial" panose="020B0604020202020204" pitchFamily="34" charset="0"/>
                <a:ea typeface="Times New Roman" panose="02020603050405020304" pitchFamily="18" charset="0"/>
                <a:cs typeface="Arial" panose="020B0604020202020204" pitchFamily="34" charset="0"/>
              </a:rPr>
              <a:t>.</a:t>
            </a:r>
            <a:br>
              <a:rPr lang="en-IN" sz="2000" dirty="0">
                <a:effectLst/>
                <a:latin typeface="Arial" panose="020B0604020202020204" pitchFamily="34" charset="0"/>
                <a:ea typeface="Times New Roman" panose="02020603050405020304" pitchFamily="18" charset="0"/>
                <a:cs typeface="Arial" panose="020B0604020202020204" pitchFamily="34" charset="0"/>
              </a:rPr>
            </a:br>
            <a:r>
              <a:rPr lang="en-IN" sz="2000" dirty="0">
                <a:effectLst/>
                <a:latin typeface="Arial" panose="020B0604020202020204" pitchFamily="34" charset="0"/>
                <a:ea typeface="Times New Roman" panose="02020603050405020304" pitchFamily="18" charset="0"/>
                <a:cs typeface="Arial" panose="020B0604020202020204" pitchFamily="34" charset="0"/>
              </a:rPr>
              <a:t>EDA helps us understand patterns, relationships, and anomalies in the data before applying any advanced modelling</a:t>
            </a:r>
            <a:r>
              <a:rPr lang="en-IN" sz="2000" dirty="0">
                <a:latin typeface="Arial" panose="020B0604020202020204" pitchFamily="34" charset="0"/>
                <a:ea typeface="Times New Roman" panose="02020603050405020304" pitchFamily="18" charset="0"/>
                <a:cs typeface="Arial" panose="020B0604020202020204" pitchFamily="34" charset="0"/>
              </a:rPr>
              <a:t>.</a:t>
            </a:r>
          </a:p>
          <a:p>
            <a:pPr marL="0" indent="0" algn="just">
              <a:lnSpc>
                <a:spcPct val="150000"/>
              </a:lnSpc>
              <a:spcAft>
                <a:spcPts val="1600"/>
              </a:spcAft>
              <a:buNone/>
            </a:pPr>
            <a:r>
              <a:rPr lang="en-IN" sz="2000" dirty="0">
                <a:effectLst/>
                <a:latin typeface="Arial" panose="020B0604020202020204" pitchFamily="34" charset="0"/>
                <a:ea typeface="Times New Roman" panose="02020603050405020304" pitchFamily="18" charset="0"/>
                <a:cs typeface="Arial" panose="020B0604020202020204" pitchFamily="34" charset="0"/>
              </a:rPr>
              <a:t>The solution is divided into logical steps:</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Data loading and understanding.</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Data cleaning and preparation.</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Bef>
                <a:spcPts val="800"/>
              </a:spcBef>
              <a:spcAft>
                <a:spcPts val="800"/>
              </a:spcAft>
              <a:tabLst>
                <a:tab pos="457200" algn="l"/>
              </a:tabLst>
            </a:pPr>
            <a:r>
              <a:rPr lang="en-IN" sz="2000" dirty="0">
                <a:effectLst/>
                <a:latin typeface="Arial" panose="020B0604020202020204" pitchFamily="34" charset="0"/>
                <a:ea typeface="Times New Roman" panose="02020603050405020304" pitchFamily="18" charset="0"/>
                <a:cs typeface="Arial" panose="020B0604020202020204" pitchFamily="34" charset="0"/>
              </a:rPr>
              <a:t>Analysis to answer each business question.</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n-IN" sz="2000" dirty="0">
                <a:effectLst/>
                <a:latin typeface="Arial" panose="020B0604020202020204" pitchFamily="34" charset="0"/>
                <a:ea typeface="Times New Roman" panose="02020603050405020304" pitchFamily="18" charset="0"/>
                <a:cs typeface="Arial" panose="020B0604020202020204" pitchFamily="34" charset="0"/>
              </a:rPr>
              <a:t> Summary of insights.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271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F49CE-A9C2-4142-88C3-756BF4E25C6D}"/>
              </a:ext>
            </a:extLst>
          </p:cNvPr>
          <p:cNvSpPr>
            <a:spLocks noGrp="1"/>
          </p:cNvSpPr>
          <p:nvPr>
            <p:ph type="title"/>
          </p:nvPr>
        </p:nvSpPr>
        <p:spPr>
          <a:xfrm>
            <a:off x="952500" y="123826"/>
            <a:ext cx="10315575" cy="781050"/>
          </a:xfrm>
        </p:spPr>
        <p:txBody>
          <a:bodyPr/>
          <a:lstStyle/>
          <a:p>
            <a:pPr algn="ctr"/>
            <a:r>
              <a:rPr lang="en-GB" b="1" dirty="0">
                <a:solidFill>
                  <a:schemeClr val="accent5">
                    <a:lumMod val="50000"/>
                  </a:schemeClr>
                </a:solidFill>
                <a:latin typeface="Arial" panose="020B0604020202020204" pitchFamily="34" charset="0"/>
                <a:cs typeface="Arial" panose="020B0604020202020204" pitchFamily="34" charset="0"/>
              </a:rPr>
              <a:t>Outlier Analysis</a:t>
            </a:r>
            <a:endParaRPr lang="en-IN" b="1"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BA37094-DC98-4A9C-A350-DCF68B77061B}"/>
              </a:ext>
            </a:extLst>
          </p:cNvPr>
          <p:cNvSpPr>
            <a:spLocks noGrp="1"/>
          </p:cNvSpPr>
          <p:nvPr>
            <p:ph idx="1"/>
          </p:nvPr>
        </p:nvSpPr>
        <p:spPr>
          <a:xfrm>
            <a:off x="104775" y="904876"/>
            <a:ext cx="12087224" cy="5829299"/>
          </a:xfrm>
        </p:spPr>
        <p:txBody>
          <a:bodyPr>
            <a:normAutofit/>
          </a:bodyPr>
          <a:lstStyle/>
          <a:p>
            <a:pPr algn="just">
              <a:lnSpc>
                <a:spcPct val="150000"/>
              </a:lnSpc>
            </a:pPr>
            <a:r>
              <a:rPr lang="en-GB" sz="2000" dirty="0">
                <a:latin typeface="Arial" panose="020B0604020202020204" pitchFamily="34" charset="0"/>
                <a:cs typeface="Arial" panose="020B0604020202020204" pitchFamily="34" charset="0"/>
              </a:rPr>
              <a:t>Real estate data naturally contains outliers due to multiple property types in Gurgaon.</a:t>
            </a:r>
          </a:p>
          <a:p>
            <a:pPr algn="just">
              <a:lnSpc>
                <a:spcPct val="150000"/>
              </a:lnSpc>
            </a:pPr>
            <a:r>
              <a:rPr lang="en-GB" sz="2000" dirty="0">
                <a:latin typeface="Arial" panose="020B0604020202020204" pitchFamily="34" charset="0"/>
                <a:cs typeface="Arial" panose="020B0604020202020204" pitchFamily="34" charset="0"/>
              </a:rPr>
              <a:t>The dataset includes various property categories such as villas and independent houses, which can show price variation.</a:t>
            </a:r>
          </a:p>
          <a:p>
            <a:pPr algn="just">
              <a:lnSpc>
                <a:spcPct val="150000"/>
              </a:lnSpc>
            </a:pPr>
            <a:r>
              <a:rPr lang="en-GB" sz="2000" dirty="0">
                <a:latin typeface="Arial" panose="020B0604020202020204" pitchFamily="34" charset="0"/>
                <a:cs typeface="Arial" panose="020B0604020202020204" pitchFamily="34" charset="0"/>
              </a:rPr>
              <a:t>Since outlier values were low, they were retained and will not highly impact the analysis results.</a:t>
            </a:r>
          </a:p>
          <a:p>
            <a:pPr marL="0" indent="0" algn="just">
              <a:lnSpc>
                <a:spcPct val="200000"/>
              </a:lnSpc>
              <a:buNone/>
            </a:pPr>
            <a:r>
              <a:rPr lang="en-GB" sz="2000" b="0" i="0" dirty="0">
                <a:solidFill>
                  <a:srgbClr val="000000"/>
                </a:solidFill>
                <a:effectLst/>
                <a:latin typeface="Arial" panose="020B0604020202020204" pitchFamily="34" charset="0"/>
                <a:cs typeface="Arial" panose="020B0604020202020204" pitchFamily="34" charset="0"/>
              </a:rPr>
              <a:t>Percentage of outliers in price: 6.78% </a:t>
            </a:r>
          </a:p>
          <a:p>
            <a:pPr marL="0" indent="0" algn="just">
              <a:lnSpc>
                <a:spcPct val="200000"/>
              </a:lnSpc>
              <a:buNone/>
            </a:pPr>
            <a:r>
              <a:rPr lang="en-GB" sz="2000" b="0" i="0" dirty="0">
                <a:solidFill>
                  <a:srgbClr val="000000"/>
                </a:solidFill>
                <a:effectLst/>
                <a:latin typeface="Arial" panose="020B0604020202020204" pitchFamily="34" charset="0"/>
                <a:cs typeface="Arial" panose="020B0604020202020204" pitchFamily="34" charset="0"/>
              </a:rPr>
              <a:t>Percentage of outliers in area: 6.72%</a:t>
            </a:r>
          </a:p>
          <a:p>
            <a:pPr marL="0" indent="0" algn="just">
              <a:lnSpc>
                <a:spcPct val="200000"/>
              </a:lnSpc>
              <a:buNone/>
            </a:pPr>
            <a:r>
              <a:rPr lang="en-GB" sz="2000" b="0" i="0" dirty="0">
                <a:solidFill>
                  <a:srgbClr val="000000"/>
                </a:solidFill>
                <a:effectLst/>
                <a:latin typeface="Arial" panose="020B0604020202020204" pitchFamily="34" charset="0"/>
                <a:cs typeface="Arial" panose="020B0604020202020204" pitchFamily="34" charset="0"/>
              </a:rPr>
              <a:t>Percentage of outliers in rate_per_sqft: 3.35%</a:t>
            </a:r>
          </a:p>
          <a:p>
            <a:pPr marL="0" indent="0" algn="just">
              <a:lnSpc>
                <a:spcPct val="200000"/>
              </a:lnSpc>
              <a:buNone/>
            </a:pPr>
            <a:r>
              <a:rPr lang="en-GB" sz="2000" b="0" i="0" dirty="0">
                <a:solidFill>
                  <a:srgbClr val="000000"/>
                </a:solidFill>
                <a:effectLst/>
                <a:latin typeface="Arial" panose="020B0604020202020204" pitchFamily="34" charset="0"/>
                <a:cs typeface="Arial" panose="020B0604020202020204" pitchFamily="34" charset="0"/>
              </a:rPr>
              <a:t>Percentage of outliers in bhk_count: 0.50%</a:t>
            </a: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E34EFEE-7009-4865-A7AB-66E74D6764D2}"/>
              </a:ext>
            </a:extLst>
          </p:cNvPr>
          <p:cNvPicPr>
            <a:picLocks noChangeAspect="1"/>
          </p:cNvPicPr>
          <p:nvPr/>
        </p:nvPicPr>
        <p:blipFill>
          <a:blip r:embed="rId2"/>
          <a:stretch>
            <a:fillRect/>
          </a:stretch>
        </p:blipFill>
        <p:spPr>
          <a:xfrm>
            <a:off x="5248275" y="3067050"/>
            <a:ext cx="6467475" cy="3552825"/>
          </a:xfrm>
          <a:prstGeom prst="rect">
            <a:avLst/>
          </a:prstGeom>
        </p:spPr>
      </p:pic>
    </p:spTree>
    <p:extLst>
      <p:ext uri="{BB962C8B-B14F-4D97-AF65-F5344CB8AC3E}">
        <p14:creationId xmlns:p14="http://schemas.microsoft.com/office/powerpoint/2010/main" val="3857708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8531-ED0A-4FE4-A6B3-0DBA39E5BF47}"/>
              </a:ext>
            </a:extLst>
          </p:cNvPr>
          <p:cNvSpPr>
            <a:spLocks noGrp="1"/>
          </p:cNvSpPr>
          <p:nvPr>
            <p:ph type="title"/>
          </p:nvPr>
        </p:nvSpPr>
        <p:spPr>
          <a:xfrm>
            <a:off x="838200" y="161925"/>
            <a:ext cx="10515600" cy="1084263"/>
          </a:xfrm>
        </p:spPr>
        <p:txBody>
          <a:bodyPr>
            <a:normAutofit/>
          </a:bodyPr>
          <a:lstStyle/>
          <a:p>
            <a:pPr algn="ctr"/>
            <a:r>
              <a:rPr lang="en-GB" b="1" dirty="0">
                <a:solidFill>
                  <a:schemeClr val="accent5">
                    <a:lumMod val="50000"/>
                  </a:schemeClr>
                </a:solidFill>
                <a:effectLst/>
                <a:latin typeface="Times New Roman" panose="02020603050405020304" pitchFamily="18" charset="0"/>
                <a:ea typeface="Calibri" panose="020F0502020204030204" pitchFamily="34" charset="0"/>
              </a:rPr>
              <a:t>Answer to the Questions </a:t>
            </a:r>
            <a:endParaRPr lang="en-IN" dirty="0">
              <a:solidFill>
                <a:schemeClr val="accent5">
                  <a:lumMod val="50000"/>
                </a:schemeClr>
              </a:solidFill>
            </a:endParaRPr>
          </a:p>
        </p:txBody>
      </p:sp>
      <p:sp>
        <p:nvSpPr>
          <p:cNvPr id="3" name="Content Placeholder 2">
            <a:extLst>
              <a:ext uri="{FF2B5EF4-FFF2-40B4-BE49-F238E27FC236}">
                <a16:creationId xmlns:a16="http://schemas.microsoft.com/office/drawing/2014/main" id="{7DE3B1D4-E62B-4C51-A40A-7D2D6269668A}"/>
              </a:ext>
            </a:extLst>
          </p:cNvPr>
          <p:cNvSpPr>
            <a:spLocks noGrp="1"/>
          </p:cNvSpPr>
          <p:nvPr>
            <p:ph idx="1"/>
          </p:nvPr>
        </p:nvSpPr>
        <p:spPr>
          <a:xfrm>
            <a:off x="561975" y="1246188"/>
            <a:ext cx="11315699" cy="5611812"/>
          </a:xfrm>
        </p:spPr>
        <p:txBody>
          <a:bodyPr>
            <a:normAutofit/>
          </a:bodyPr>
          <a:lstStyle/>
          <a:p>
            <a:pPr marL="0" indent="0">
              <a:buNone/>
            </a:pPr>
            <a:r>
              <a:rPr lang="en-IN" sz="2000" dirty="0">
                <a:effectLst/>
                <a:latin typeface="Arial" panose="020B0604020202020204" pitchFamily="34" charset="0"/>
                <a:ea typeface="Times New Roman" panose="02020603050405020304" pitchFamily="18" charset="0"/>
                <a:cs typeface="Arial" panose="020B0604020202020204" pitchFamily="34" charset="0"/>
              </a:rPr>
              <a:t>Which locality has the </a:t>
            </a:r>
            <a:r>
              <a:rPr lang="en-IN" sz="2000" b="1" dirty="0">
                <a:effectLst/>
                <a:latin typeface="Arial" panose="020B0604020202020204" pitchFamily="34" charset="0"/>
                <a:ea typeface="Times New Roman" panose="02020603050405020304" pitchFamily="18" charset="0"/>
                <a:cs typeface="Arial" panose="020B0604020202020204" pitchFamily="34" charset="0"/>
              </a:rPr>
              <a:t>highest average price</a:t>
            </a:r>
            <a:r>
              <a:rPr lang="en-IN" sz="2000" dirty="0">
                <a:effectLst/>
                <a:latin typeface="Arial" panose="020B0604020202020204" pitchFamily="34" charset="0"/>
                <a:ea typeface="Times New Roman" panose="02020603050405020304" pitchFamily="18" charset="0"/>
                <a:cs typeface="Arial" panose="020B0604020202020204" pitchFamily="34" charset="0"/>
              </a:rPr>
              <a:t>?</a:t>
            </a:r>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pPr marL="0" indent="0">
              <a:lnSpc>
                <a:spcPct val="150000"/>
              </a:lnSpc>
              <a:buNone/>
            </a:pPr>
            <a:r>
              <a:rPr lang="en-GB" sz="2000" b="0" dirty="0">
                <a:solidFill>
                  <a:srgbClr val="000000"/>
                </a:solidFill>
                <a:effectLst/>
                <a:latin typeface="Arial" panose="020B0604020202020204" pitchFamily="34" charset="0"/>
                <a:cs typeface="Arial" panose="020B0604020202020204" pitchFamily="34" charset="0"/>
              </a:rPr>
              <a:t>The analysis shows that property price mainly depends on the locality .</a:t>
            </a:r>
          </a:p>
          <a:p>
            <a:endParaRPr lang="en-IN" sz="2000" dirty="0"/>
          </a:p>
        </p:txBody>
      </p:sp>
      <p:pic>
        <p:nvPicPr>
          <p:cNvPr id="7" name="Picture 6">
            <a:extLst>
              <a:ext uri="{FF2B5EF4-FFF2-40B4-BE49-F238E27FC236}">
                <a16:creationId xmlns:a16="http://schemas.microsoft.com/office/drawing/2014/main" id="{C8A39FC4-7819-4FF8-B66D-F18FAF6F634C}"/>
              </a:ext>
            </a:extLst>
          </p:cNvPr>
          <p:cNvPicPr/>
          <p:nvPr/>
        </p:nvPicPr>
        <p:blipFill>
          <a:blip r:embed="rId2"/>
          <a:stretch>
            <a:fillRect/>
          </a:stretch>
        </p:blipFill>
        <p:spPr>
          <a:xfrm>
            <a:off x="838200" y="1587501"/>
            <a:ext cx="10234613" cy="4213224"/>
          </a:xfrm>
          <a:prstGeom prst="rect">
            <a:avLst/>
          </a:prstGeom>
        </p:spPr>
      </p:pic>
    </p:spTree>
    <p:extLst>
      <p:ext uri="{BB962C8B-B14F-4D97-AF65-F5344CB8AC3E}">
        <p14:creationId xmlns:p14="http://schemas.microsoft.com/office/powerpoint/2010/main" val="3357955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F54F-DDB1-4F20-BE68-465435D98F72}"/>
              </a:ext>
            </a:extLst>
          </p:cNvPr>
          <p:cNvSpPr>
            <a:spLocks noGrp="1"/>
          </p:cNvSpPr>
          <p:nvPr>
            <p:ph type="title"/>
          </p:nvPr>
        </p:nvSpPr>
        <p:spPr/>
        <p:txBody>
          <a:bodyPr>
            <a:normAutofit/>
          </a:bodyPr>
          <a:lstStyle/>
          <a:p>
            <a:r>
              <a:rPr lang="en-IN" sz="2000" dirty="0">
                <a:effectLst/>
                <a:latin typeface="Arial" panose="020B0604020202020204" pitchFamily="34" charset="0"/>
                <a:ea typeface="Times New Roman" panose="02020603050405020304" pitchFamily="18" charset="0"/>
              </a:rPr>
              <a:t>Which locality has the </a:t>
            </a:r>
            <a:r>
              <a:rPr lang="en-IN" sz="2000" b="1" dirty="0">
                <a:effectLst/>
                <a:latin typeface="Arial" panose="020B0604020202020204" pitchFamily="34" charset="0"/>
                <a:ea typeface="Times New Roman" panose="02020603050405020304" pitchFamily="18" charset="0"/>
              </a:rPr>
              <a:t>highest rate per square foot</a:t>
            </a:r>
            <a:r>
              <a:rPr lang="en-IN" sz="2000" dirty="0">
                <a:effectLst/>
                <a:latin typeface="Arial" panose="020B0604020202020204" pitchFamily="34" charset="0"/>
                <a:ea typeface="Times New Roman" panose="02020603050405020304" pitchFamily="18" charset="0"/>
              </a:rPr>
              <a:t>?</a:t>
            </a:r>
            <a:endParaRPr lang="en-IN" sz="2000" dirty="0"/>
          </a:p>
        </p:txBody>
      </p:sp>
      <p:pic>
        <p:nvPicPr>
          <p:cNvPr id="4" name="Content Placeholder 3">
            <a:extLst>
              <a:ext uri="{FF2B5EF4-FFF2-40B4-BE49-F238E27FC236}">
                <a16:creationId xmlns:a16="http://schemas.microsoft.com/office/drawing/2014/main" id="{B3D0E448-04A6-4960-9172-1E22B1A5F198}"/>
              </a:ext>
            </a:extLst>
          </p:cNvPr>
          <p:cNvPicPr>
            <a:picLocks noGrp="1"/>
          </p:cNvPicPr>
          <p:nvPr>
            <p:ph idx="1"/>
          </p:nvPr>
        </p:nvPicPr>
        <p:blipFill>
          <a:blip r:embed="rId2"/>
          <a:stretch>
            <a:fillRect/>
          </a:stretch>
        </p:blipFill>
        <p:spPr>
          <a:xfrm>
            <a:off x="933450" y="1609725"/>
            <a:ext cx="10277475" cy="4814888"/>
          </a:xfrm>
          <a:prstGeom prst="rect">
            <a:avLst/>
          </a:prstGeom>
        </p:spPr>
      </p:pic>
    </p:spTree>
    <p:extLst>
      <p:ext uri="{BB962C8B-B14F-4D97-AF65-F5344CB8AC3E}">
        <p14:creationId xmlns:p14="http://schemas.microsoft.com/office/powerpoint/2010/main" val="3558779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853A-5333-4008-8685-3EE63BCC630F}"/>
              </a:ext>
            </a:extLst>
          </p:cNvPr>
          <p:cNvSpPr>
            <a:spLocks noGrp="1"/>
          </p:cNvSpPr>
          <p:nvPr>
            <p:ph type="title"/>
          </p:nvPr>
        </p:nvSpPr>
        <p:spPr>
          <a:xfrm>
            <a:off x="838200" y="0"/>
            <a:ext cx="10515600" cy="828675"/>
          </a:xfrm>
        </p:spPr>
        <p:txBody>
          <a:bodyPr>
            <a:normAutofit/>
          </a:bodyPr>
          <a:lstStyle/>
          <a:p>
            <a:r>
              <a:rPr lang="en-IN" sz="2000" dirty="0">
                <a:effectLst/>
                <a:latin typeface="Arial" panose="020B0604020202020204" pitchFamily="34" charset="0"/>
                <a:ea typeface="Times New Roman" panose="02020603050405020304" pitchFamily="18" charset="0"/>
                <a:cs typeface="Arial" panose="020B0604020202020204" pitchFamily="34" charset="0"/>
              </a:rPr>
              <a:t>Which builder sells most expensive properties?</a:t>
            </a:r>
            <a:endParaRPr lang="en-IN"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FC77C76-1669-46D9-8DF6-CC2F46D5CFD8}"/>
              </a:ext>
            </a:extLst>
          </p:cNvPr>
          <p:cNvSpPr>
            <a:spLocks noGrp="1"/>
          </p:cNvSpPr>
          <p:nvPr>
            <p:ph idx="1"/>
          </p:nvPr>
        </p:nvSpPr>
        <p:spPr>
          <a:xfrm>
            <a:off x="1038225" y="895350"/>
            <a:ext cx="10515600" cy="5962650"/>
          </a:xfrm>
        </p:spPr>
        <p:txBody>
          <a:bodyPr>
            <a:noAutofit/>
          </a:bodyPr>
          <a:lstStyle/>
          <a:p>
            <a:pPr marL="0" indent="0">
              <a:lnSpc>
                <a:spcPct val="107000"/>
              </a:lnSpc>
              <a:spcAft>
                <a:spcPts val="800"/>
              </a:spcAft>
              <a:buNone/>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builder_name</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Harish                             221100000.0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India Gold Properties      203837500.0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Bob vennikal                   185000000.0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Vinit tomar                      183585000.0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Arihant prime realtors     180000000.0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Dream Home Realty        173337500.0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AMAYA Landbase            168250000.0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Jagdish Estate                 154100000.0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GharDekhoCo                  150783333.333333</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JP Groups                         150000000</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9110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2E542-7AF4-4EE3-864E-CD4C2BE6372D}"/>
              </a:ext>
            </a:extLst>
          </p:cNvPr>
          <p:cNvSpPr>
            <a:spLocks noGrp="1"/>
          </p:cNvSpPr>
          <p:nvPr>
            <p:ph type="title"/>
          </p:nvPr>
        </p:nvSpPr>
        <p:spPr>
          <a:xfrm>
            <a:off x="838200" y="1"/>
            <a:ext cx="10515600" cy="771524"/>
          </a:xfrm>
        </p:spPr>
        <p:txBody>
          <a:bodyPr/>
          <a:lstStyle/>
          <a:p>
            <a:pPr>
              <a:lnSpc>
                <a:spcPct val="107000"/>
              </a:lnSpc>
              <a:spcAft>
                <a:spcPts val="800"/>
              </a:spcAft>
            </a:pPr>
            <a:r>
              <a:rPr lang="en-IN" sz="180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br>
              <a:rPr lang="en-IN" sz="2400" dirty="0">
                <a:effectLst/>
                <a:latin typeface="Calibri" panose="020F0502020204030204" pitchFamily="34" charset="0"/>
                <a:ea typeface="Calibri" panose="020F0502020204030204" pitchFamily="34" charset="0"/>
                <a:cs typeface="Times New Roman" panose="02020603050405020304" pitchFamily="18" charset="0"/>
              </a:rPr>
            </a:br>
            <a:r>
              <a:rPr lang="en-IN" sz="2000" dirty="0">
                <a:effectLst/>
                <a:latin typeface="Arial" panose="020B0604020202020204" pitchFamily="34" charset="0"/>
                <a:ea typeface="Times New Roman" panose="02020603050405020304" pitchFamily="18" charset="0"/>
                <a:cs typeface="Arial" panose="020B0604020202020204" pitchFamily="34" charset="0"/>
              </a:rPr>
              <a:t>Does approval status increase property value?</a:t>
            </a:r>
            <a:endParaRPr lang="en-IN"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304DB2-D3A2-4748-B69E-490F1DBC4BB9}"/>
              </a:ext>
            </a:extLst>
          </p:cNvPr>
          <p:cNvSpPr>
            <a:spLocks noGrp="1"/>
          </p:cNvSpPr>
          <p:nvPr>
            <p:ph idx="1"/>
          </p:nvPr>
        </p:nvSpPr>
        <p:spPr>
          <a:xfrm>
            <a:off x="590551" y="1057274"/>
            <a:ext cx="11477624" cy="5648325"/>
          </a:xfrm>
        </p:spPr>
        <p:txBody>
          <a:bodyPr>
            <a:normAutofit fontScale="92500" lnSpcReduction="20000"/>
          </a:bodyPr>
          <a:lstStyle/>
          <a:p>
            <a:pPr marL="0" indent="0">
              <a:lnSpc>
                <a:spcPct val="107000"/>
              </a:lnSpc>
              <a:spcAft>
                <a:spcPts val="800"/>
              </a:spcAft>
              <a:buNone/>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rera_approval</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False    25800000.0</a:t>
            </a:r>
            <a:endParaRPr lang="en-IN" sz="2000" dirty="0">
              <a:effectLst/>
              <a:latin typeface="Arial" panose="020B0604020202020204" pitchFamily="34" charset="0"/>
              <a:ea typeface="Calibri" panose="020F0502020204030204" pitchFamily="34" charset="0"/>
              <a:cs typeface="Arial" panose="020B0604020202020204" pitchFamily="34" charset="0"/>
            </a:endParaRPr>
          </a:p>
          <a:p>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True     27100000.0</a:t>
            </a:r>
          </a:p>
          <a:p>
            <a:endParaRPr lang="en-IN" dirty="0"/>
          </a:p>
          <a:p>
            <a:endParaRPr lang="en-IN" dirty="0"/>
          </a:p>
          <a:p>
            <a:endParaRPr lang="en-IN" dirty="0"/>
          </a:p>
          <a:p>
            <a:endParaRPr lang="en-IN" dirty="0"/>
          </a:p>
          <a:p>
            <a:endParaRPr lang="en-IN" dirty="0"/>
          </a:p>
          <a:p>
            <a:endParaRPr lang="en-IN" dirty="0"/>
          </a:p>
          <a:p>
            <a:endParaRPr lang="en-IN" dirty="0"/>
          </a:p>
          <a:p>
            <a:pPr marL="0" indent="0" algn="just">
              <a:lnSpc>
                <a:spcPct val="160000"/>
              </a:lnSpc>
              <a:buNone/>
            </a:pPr>
            <a:r>
              <a:rPr lang="en-GB" sz="2200" b="0" dirty="0">
                <a:solidFill>
                  <a:srgbClr val="000000"/>
                </a:solidFill>
                <a:effectLst/>
                <a:latin typeface="Arial" panose="020B0604020202020204" pitchFamily="34" charset="0"/>
                <a:cs typeface="Arial" panose="020B0604020202020204" pitchFamily="34" charset="0"/>
              </a:rPr>
              <a:t>The analysis indicates that RERA-approved properties have a higher median price compared to non-approved properties. This suggests that buyers may be willing to pay a premium for regulatory compliance and legal security.</a:t>
            </a:r>
          </a:p>
          <a:p>
            <a:endParaRPr lang="en-IN" dirty="0"/>
          </a:p>
        </p:txBody>
      </p:sp>
      <p:pic>
        <p:nvPicPr>
          <p:cNvPr id="6" name="Picture 5">
            <a:extLst>
              <a:ext uri="{FF2B5EF4-FFF2-40B4-BE49-F238E27FC236}">
                <a16:creationId xmlns:a16="http://schemas.microsoft.com/office/drawing/2014/main" id="{E3BC2FCC-0ECF-4DC5-89B7-B42C5296013C}"/>
              </a:ext>
            </a:extLst>
          </p:cNvPr>
          <p:cNvPicPr>
            <a:picLocks noChangeAspect="1"/>
          </p:cNvPicPr>
          <p:nvPr/>
        </p:nvPicPr>
        <p:blipFill>
          <a:blip r:embed="rId2"/>
          <a:stretch>
            <a:fillRect/>
          </a:stretch>
        </p:blipFill>
        <p:spPr>
          <a:xfrm>
            <a:off x="4276725" y="923925"/>
            <a:ext cx="7010400" cy="4191000"/>
          </a:xfrm>
          <a:prstGeom prst="rect">
            <a:avLst/>
          </a:prstGeom>
        </p:spPr>
      </p:pic>
    </p:spTree>
    <p:extLst>
      <p:ext uri="{BB962C8B-B14F-4D97-AF65-F5344CB8AC3E}">
        <p14:creationId xmlns:p14="http://schemas.microsoft.com/office/powerpoint/2010/main" val="1169083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B228-8879-4189-AA0A-73F05AB4ADEF}"/>
              </a:ext>
            </a:extLst>
          </p:cNvPr>
          <p:cNvSpPr>
            <a:spLocks noGrp="1"/>
          </p:cNvSpPr>
          <p:nvPr>
            <p:ph type="title"/>
          </p:nvPr>
        </p:nvSpPr>
        <p:spPr>
          <a:xfrm>
            <a:off x="838200" y="1"/>
            <a:ext cx="10515600" cy="466725"/>
          </a:xfrm>
        </p:spPr>
        <p:txBody>
          <a:bodyPr>
            <a:normAutofit/>
          </a:bodyPr>
          <a:lstStyle/>
          <a:p>
            <a:r>
              <a:rPr lang="en-IN" sz="2000" dirty="0">
                <a:effectLst/>
                <a:latin typeface="Arial" panose="020B0604020202020204" pitchFamily="34" charset="0"/>
                <a:ea typeface="Times New Roman" panose="02020603050405020304" pitchFamily="18" charset="0"/>
                <a:cs typeface="Arial" panose="020B0604020202020204" pitchFamily="34" charset="0"/>
              </a:rPr>
              <a:t>Which flat type is most demanded?</a:t>
            </a:r>
            <a:endParaRPr lang="en-IN"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8B3AB25-2240-4A2C-BE83-C4643902A12E}"/>
              </a:ext>
            </a:extLst>
          </p:cNvPr>
          <p:cNvSpPr>
            <a:spLocks noGrp="1"/>
          </p:cNvSpPr>
          <p:nvPr>
            <p:ph idx="1"/>
          </p:nvPr>
        </p:nvSpPr>
        <p:spPr>
          <a:xfrm>
            <a:off x="638175" y="657224"/>
            <a:ext cx="10991850" cy="6515101"/>
          </a:xfrm>
        </p:spPr>
        <p:txBody>
          <a:bodyPr>
            <a:noAutofit/>
          </a:bodyPr>
          <a:lstStyle/>
          <a:p>
            <a:pPr marL="0" indent="0">
              <a:lnSpc>
                <a:spcPct val="100000"/>
              </a:lnSpc>
              <a:spcAft>
                <a:spcPts val="800"/>
              </a:spcAft>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Apartment    10894</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Aft>
                <a:spcPts val="800"/>
              </a:spcAft>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Plot                2166</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Aft>
                <a:spcPts val="800"/>
              </a:spcAft>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Floor              881</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Aft>
                <a:spcPts val="800"/>
              </a:spcAft>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Villa               205</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Aft>
                <a:spcPts val="800"/>
              </a:spcAft>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House             45</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buNone/>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Penthouse       32   </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0000"/>
              </a:lnSpc>
              <a:spcAft>
                <a:spcPts val="800"/>
              </a:spcAft>
            </a:pPr>
            <a:r>
              <a:rPr lang="en-GB" sz="2000" b="0" dirty="0">
                <a:solidFill>
                  <a:srgbClr val="000000"/>
                </a:solidFill>
                <a:effectLst/>
                <a:latin typeface="Arial" panose="020B0604020202020204" pitchFamily="34" charset="0"/>
                <a:cs typeface="Arial" panose="020B0604020202020204" pitchFamily="34" charset="0"/>
              </a:rPr>
              <a:t>Apartments represent a relatively safe investment segment due to high buyer demand and strong market liquidity.</a:t>
            </a:r>
          </a:p>
          <a:p>
            <a:pPr algn="just">
              <a:lnSpc>
                <a:spcPct val="100000"/>
              </a:lnSpc>
            </a:pPr>
            <a:r>
              <a:rPr lang="en-GB" sz="2000" b="0" dirty="0">
                <a:solidFill>
                  <a:srgbClr val="000000"/>
                </a:solidFill>
                <a:effectLst/>
                <a:latin typeface="Arial" panose="020B0604020202020204" pitchFamily="34" charset="0"/>
                <a:cs typeface="Arial" panose="020B0604020202020204" pitchFamily="34" charset="0"/>
              </a:rPr>
              <a:t> Houses and penthouses fall under niche luxury segments with a limited buyer base.</a:t>
            </a:r>
          </a:p>
          <a:p>
            <a:pPr algn="just">
              <a:lnSpc>
                <a:spcPct val="100000"/>
              </a:lnSpc>
            </a:pPr>
            <a:r>
              <a:rPr lang="en-GB" sz="2000" b="0" dirty="0">
                <a:solidFill>
                  <a:srgbClr val="000000"/>
                </a:solidFill>
                <a:effectLst/>
                <a:latin typeface="Arial" panose="020B0604020202020204" pitchFamily="34" charset="0"/>
                <a:cs typeface="Arial" panose="020B0604020202020204" pitchFamily="34" charset="0"/>
              </a:rPr>
              <a:t> Properties in these segments may take longer to sell due to lower demand.</a:t>
            </a:r>
          </a:p>
          <a:p>
            <a:pPr algn="just">
              <a:lnSpc>
                <a:spcPct val="100000"/>
              </a:lnSpc>
            </a:pPr>
            <a:r>
              <a:rPr lang="en-GB" sz="2000" b="0" dirty="0">
                <a:solidFill>
                  <a:srgbClr val="000000"/>
                </a:solidFill>
                <a:effectLst/>
                <a:latin typeface="Arial" panose="020B0604020202020204" pitchFamily="34" charset="0"/>
                <a:cs typeface="Arial" panose="020B0604020202020204" pitchFamily="34" charset="0"/>
              </a:rPr>
              <a:t>For short-term investors, houses and penthouses may involve higher liquidity risk.</a:t>
            </a:r>
          </a:p>
          <a:p>
            <a:pPr algn="just">
              <a:lnSpc>
                <a:spcPct val="100000"/>
              </a:lnSpc>
            </a:pPr>
            <a:r>
              <a:rPr lang="en-GB" sz="2000" b="0" dirty="0">
                <a:solidFill>
                  <a:srgbClr val="000000"/>
                </a:solidFill>
                <a:effectLst/>
                <a:latin typeface="Arial" panose="020B0604020202020204" pitchFamily="34" charset="0"/>
                <a:cs typeface="Arial" panose="020B0604020202020204" pitchFamily="34" charset="0"/>
              </a:rPr>
              <a:t>However, these luxury segments may still offer attractive returns for long-term investors targeting premium buyers.</a:t>
            </a:r>
          </a:p>
          <a:p>
            <a:pPr marL="0" indent="0">
              <a:lnSpc>
                <a:spcPct val="150000"/>
              </a:lnSpc>
              <a:buNone/>
            </a:pPr>
            <a:r>
              <a:rPr lang="en-IN"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B145729-10C0-45AB-9948-A52E2BB26A70}"/>
              </a:ext>
            </a:extLst>
          </p:cNvPr>
          <p:cNvPicPr>
            <a:picLocks noChangeAspect="1"/>
          </p:cNvPicPr>
          <p:nvPr/>
        </p:nvPicPr>
        <p:blipFill>
          <a:blip r:embed="rId2"/>
          <a:stretch>
            <a:fillRect/>
          </a:stretch>
        </p:blipFill>
        <p:spPr>
          <a:xfrm>
            <a:off x="5729287" y="390526"/>
            <a:ext cx="5762625" cy="3429000"/>
          </a:xfrm>
          <a:prstGeom prst="rect">
            <a:avLst/>
          </a:prstGeom>
        </p:spPr>
      </p:pic>
    </p:spTree>
    <p:extLst>
      <p:ext uri="{BB962C8B-B14F-4D97-AF65-F5344CB8AC3E}">
        <p14:creationId xmlns:p14="http://schemas.microsoft.com/office/powerpoint/2010/main" val="956383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C983-F151-4690-AE61-950D978281EC}"/>
              </a:ext>
            </a:extLst>
          </p:cNvPr>
          <p:cNvSpPr>
            <a:spLocks noGrp="1"/>
          </p:cNvSpPr>
          <p:nvPr>
            <p:ph type="title"/>
          </p:nvPr>
        </p:nvSpPr>
        <p:spPr>
          <a:xfrm>
            <a:off x="838200" y="114301"/>
            <a:ext cx="10515600" cy="885824"/>
          </a:xfrm>
        </p:spPr>
        <p:txBody>
          <a:bodyPr>
            <a:normAutofit/>
          </a:bodyPr>
          <a:lstStyle/>
          <a:p>
            <a:r>
              <a:rPr lang="en-IN" sz="2000" dirty="0">
                <a:effectLst/>
                <a:latin typeface="Arial" panose="020B0604020202020204" pitchFamily="34" charset="0"/>
                <a:ea typeface="Times New Roman" panose="02020603050405020304" pitchFamily="18" charset="0"/>
                <a:cs typeface="Arial" panose="020B0604020202020204" pitchFamily="34" charset="0"/>
              </a:rPr>
              <a:t>How does area impact price?</a:t>
            </a:r>
            <a:endParaRPr lang="en-IN" sz="2000" dirty="0">
              <a:latin typeface="Arial" panose="020B0604020202020204" pitchFamily="34" charset="0"/>
              <a:cs typeface="Arial" panose="020B0604020202020204" pitchFamily="34" charset="0"/>
            </a:endParaRPr>
          </a:p>
        </p:txBody>
      </p:sp>
      <p:pic>
        <p:nvPicPr>
          <p:cNvPr id="9" name="Content Placeholder 8">
            <a:extLst>
              <a:ext uri="{FF2B5EF4-FFF2-40B4-BE49-F238E27FC236}">
                <a16:creationId xmlns:a16="http://schemas.microsoft.com/office/drawing/2014/main" id="{12A479D5-BB86-47DF-9241-FAF44882D865}"/>
              </a:ext>
            </a:extLst>
          </p:cNvPr>
          <p:cNvPicPr>
            <a:picLocks noGrp="1" noChangeAspect="1"/>
          </p:cNvPicPr>
          <p:nvPr>
            <p:ph idx="1"/>
          </p:nvPr>
        </p:nvPicPr>
        <p:blipFill>
          <a:blip r:embed="rId2"/>
          <a:stretch>
            <a:fillRect/>
          </a:stretch>
        </p:blipFill>
        <p:spPr>
          <a:xfrm>
            <a:off x="3852861" y="923925"/>
            <a:ext cx="6291263" cy="4333875"/>
          </a:xfrm>
        </p:spPr>
      </p:pic>
      <p:sp>
        <p:nvSpPr>
          <p:cNvPr id="11" name="TextBox 10">
            <a:extLst>
              <a:ext uri="{FF2B5EF4-FFF2-40B4-BE49-F238E27FC236}">
                <a16:creationId xmlns:a16="http://schemas.microsoft.com/office/drawing/2014/main" id="{52A9932B-6F5D-4F48-83C1-66735CE84986}"/>
              </a:ext>
            </a:extLst>
          </p:cNvPr>
          <p:cNvSpPr txBox="1"/>
          <p:nvPr/>
        </p:nvSpPr>
        <p:spPr>
          <a:xfrm>
            <a:off x="914400" y="5524500"/>
            <a:ext cx="10267950" cy="677108"/>
          </a:xfrm>
          <a:prstGeom prst="rect">
            <a:avLst/>
          </a:prstGeom>
          <a:noFill/>
        </p:spPr>
        <p:txBody>
          <a:bodyPr wrap="square" rtlCol="0">
            <a:spAutoFit/>
          </a:bodyPr>
          <a:lstStyle/>
          <a:p>
            <a:pPr algn="just"/>
            <a:r>
              <a:rPr lang="en-GB" sz="2000" b="0" dirty="0">
                <a:solidFill>
                  <a:srgbClr val="000000"/>
                </a:solidFill>
                <a:effectLst/>
                <a:latin typeface="Arial" panose="020B0604020202020204" pitchFamily="34" charset="0"/>
                <a:cs typeface="Arial" panose="020B0604020202020204" pitchFamily="34" charset="0"/>
              </a:rPr>
              <a:t>Scatter plot suggest that property price is not strongly dependent on area.</a:t>
            </a:r>
          </a:p>
          <a:p>
            <a:endParaRPr lang="en-IN" dirty="0"/>
          </a:p>
        </p:txBody>
      </p:sp>
    </p:spTree>
    <p:extLst>
      <p:ext uri="{BB962C8B-B14F-4D97-AF65-F5344CB8AC3E}">
        <p14:creationId xmlns:p14="http://schemas.microsoft.com/office/powerpoint/2010/main" val="2920131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230E-33B2-454C-A460-42EE9BE18A1A}"/>
              </a:ext>
            </a:extLst>
          </p:cNvPr>
          <p:cNvSpPr>
            <a:spLocks noGrp="1"/>
          </p:cNvSpPr>
          <p:nvPr>
            <p:ph type="title"/>
          </p:nvPr>
        </p:nvSpPr>
        <p:spPr/>
        <p:txBody>
          <a:bodyPr>
            <a:normAutofit/>
          </a:bodyPr>
          <a:lstStyle/>
          <a:p>
            <a:pPr algn="just"/>
            <a:r>
              <a:rPr lang="en-GB" sz="2000" b="0" dirty="0">
                <a:effectLst/>
                <a:latin typeface="Arial" panose="020B0604020202020204" pitchFamily="34" charset="0"/>
                <a:cs typeface="Arial" panose="020B0604020202020204" pitchFamily="34" charset="0"/>
              </a:rPr>
              <a:t>Is there a statistically meaningful relationship between BHK configuration and property price?</a:t>
            </a:r>
            <a:endParaRPr lang="en-IN" sz="2000" dirty="0"/>
          </a:p>
        </p:txBody>
      </p:sp>
      <p:pic>
        <p:nvPicPr>
          <p:cNvPr id="5" name="Content Placeholder 4">
            <a:extLst>
              <a:ext uri="{FF2B5EF4-FFF2-40B4-BE49-F238E27FC236}">
                <a16:creationId xmlns:a16="http://schemas.microsoft.com/office/drawing/2014/main" id="{67195F82-0872-4AA4-B2E0-3FA9A93BCA74}"/>
              </a:ext>
            </a:extLst>
          </p:cNvPr>
          <p:cNvPicPr>
            <a:picLocks noGrp="1" noChangeAspect="1"/>
          </p:cNvPicPr>
          <p:nvPr>
            <p:ph idx="1"/>
          </p:nvPr>
        </p:nvPicPr>
        <p:blipFill>
          <a:blip r:embed="rId2"/>
          <a:stretch>
            <a:fillRect/>
          </a:stretch>
        </p:blipFill>
        <p:spPr>
          <a:xfrm>
            <a:off x="3529012" y="1510506"/>
            <a:ext cx="5167313" cy="4143375"/>
          </a:xfrm>
        </p:spPr>
      </p:pic>
      <p:sp>
        <p:nvSpPr>
          <p:cNvPr id="7" name="TextBox 6">
            <a:extLst>
              <a:ext uri="{FF2B5EF4-FFF2-40B4-BE49-F238E27FC236}">
                <a16:creationId xmlns:a16="http://schemas.microsoft.com/office/drawing/2014/main" id="{E9BCE1CD-5B6F-482C-A239-5689FA8C63DF}"/>
              </a:ext>
            </a:extLst>
          </p:cNvPr>
          <p:cNvSpPr txBox="1"/>
          <p:nvPr/>
        </p:nvSpPr>
        <p:spPr>
          <a:xfrm>
            <a:off x="1143000" y="5838825"/>
            <a:ext cx="10515600" cy="400110"/>
          </a:xfrm>
          <a:prstGeom prst="rect">
            <a:avLst/>
          </a:prstGeom>
          <a:noFill/>
        </p:spPr>
        <p:txBody>
          <a:bodyPr wrap="square" rtlCol="0">
            <a:spAutoFit/>
          </a:bodyPr>
          <a:lstStyle/>
          <a:p>
            <a:r>
              <a:rPr lang="en-GB" sz="2000" b="0" dirty="0">
                <a:solidFill>
                  <a:srgbClr val="000000"/>
                </a:solidFill>
                <a:effectLst/>
                <a:latin typeface="Arial" panose="020B0604020202020204" pitchFamily="34" charset="0"/>
                <a:cs typeface="Arial" panose="020B0604020202020204" pitchFamily="34" charset="0"/>
              </a:rPr>
              <a:t>Increasing the number of BHK does not significantly affect the property price</a:t>
            </a:r>
            <a:r>
              <a:rPr lang="en-IN" sz="2000" b="0" dirty="0">
                <a:solidFill>
                  <a:srgbClr val="000000"/>
                </a:solidFill>
                <a:effectLst/>
                <a:latin typeface="Arial" panose="020B0604020202020204" pitchFamily="34" charset="0"/>
                <a:cs typeface="Arial" panose="020B0604020202020204" pitchFamily="34" charset="0"/>
              </a:rPr>
              <a:t>.</a:t>
            </a:r>
            <a:endParaRPr lang="en-GB" sz="2000" b="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2243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4492-D763-4C6F-9CA8-D573A734BC3A}"/>
              </a:ext>
            </a:extLst>
          </p:cNvPr>
          <p:cNvSpPr>
            <a:spLocks noGrp="1"/>
          </p:cNvSpPr>
          <p:nvPr>
            <p:ph type="title"/>
          </p:nvPr>
        </p:nvSpPr>
        <p:spPr>
          <a:xfrm>
            <a:off x="838200" y="190500"/>
            <a:ext cx="10515600" cy="1209676"/>
          </a:xfrm>
        </p:spPr>
        <p:txBody>
          <a:bodyPr>
            <a:normAutofit/>
          </a:bodyPr>
          <a:lstStyle/>
          <a:p>
            <a:pPr algn="ctr"/>
            <a:r>
              <a:rPr lang="en-GB" b="1" dirty="0">
                <a:solidFill>
                  <a:schemeClr val="accent5">
                    <a:lumMod val="50000"/>
                  </a:schemeClr>
                </a:solidFill>
                <a:latin typeface="Arial" panose="020B0604020202020204" pitchFamily="34" charset="0"/>
                <a:cs typeface="Arial" panose="020B0604020202020204" pitchFamily="34" charset="0"/>
              </a:rPr>
              <a:t>E</a:t>
            </a:r>
            <a:r>
              <a:rPr lang="en-IN" b="1" dirty="0">
                <a:solidFill>
                  <a:schemeClr val="accent5">
                    <a:lumMod val="50000"/>
                  </a:schemeClr>
                </a:solidFill>
                <a:latin typeface="Arial" panose="020B0604020202020204" pitchFamily="34" charset="0"/>
                <a:cs typeface="Arial" panose="020B0604020202020204" pitchFamily="34" charset="0"/>
              </a:rPr>
              <a:t>xecutive Summary</a:t>
            </a:r>
          </a:p>
        </p:txBody>
      </p:sp>
      <p:sp>
        <p:nvSpPr>
          <p:cNvPr id="3" name="Content Placeholder 2">
            <a:extLst>
              <a:ext uri="{FF2B5EF4-FFF2-40B4-BE49-F238E27FC236}">
                <a16:creationId xmlns:a16="http://schemas.microsoft.com/office/drawing/2014/main" id="{7797D9B3-F496-4EC9-AE59-26A86898B758}"/>
              </a:ext>
            </a:extLst>
          </p:cNvPr>
          <p:cNvSpPr>
            <a:spLocks noGrp="1"/>
          </p:cNvSpPr>
          <p:nvPr>
            <p:ph idx="1"/>
          </p:nvPr>
        </p:nvSpPr>
        <p:spPr>
          <a:xfrm>
            <a:off x="838200" y="1485900"/>
            <a:ext cx="10515600" cy="4691063"/>
          </a:xfrm>
        </p:spPr>
        <p:txBody>
          <a:bodyPr/>
          <a:lstStyle/>
          <a:p>
            <a:pPr lvl="1">
              <a:lnSpc>
                <a:spcPct val="150000"/>
              </a:lnSpc>
              <a:tabLst>
                <a:tab pos="914400" algn="l"/>
              </a:tabLst>
            </a:pP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Premium Localities consistently show higher prices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spcAft>
                <a:spcPts val="800"/>
              </a:spcAft>
              <a:tabLst>
                <a:tab pos="914400" algn="l"/>
              </a:tabLst>
            </a:pP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rera -approval properties trend to command higher prices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spcAft>
                <a:spcPts val="800"/>
              </a:spcAft>
              <a:tabLst>
                <a:tab pos="914400" algn="l"/>
              </a:tabLst>
            </a:pP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larger homes are not always more expensive per sqft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spcAft>
                <a:spcPts val="800"/>
              </a:spcAft>
              <a:tabLst>
                <a:tab pos="914400" algn="l"/>
              </a:tabLst>
            </a:pP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Apartment generally higher in demands.</a:t>
            </a:r>
          </a:p>
          <a:p>
            <a:pPr lvl="1">
              <a:lnSpc>
                <a:spcPct val="150000"/>
              </a:lnSpc>
              <a:spcAft>
                <a:spcPts val="800"/>
              </a:spcAft>
              <a:tabLst>
                <a:tab pos="914400" algn="l"/>
              </a:tabLst>
            </a:pPr>
            <a:r>
              <a:rPr lang="en-IN" dirty="0">
                <a:solidFill>
                  <a:srgbClr val="000000"/>
                </a:solidFill>
                <a:effectLst/>
                <a:latin typeface="Times New Roman" panose="02020603050405020304" pitchFamily="18" charset="0"/>
                <a:ea typeface="Times New Roman" panose="02020603050405020304" pitchFamily="18" charset="0"/>
              </a:rPr>
              <a:t>Increasing the number of bhk not affect the price.</a:t>
            </a:r>
            <a:endParaRPr lang="en-IN" dirty="0"/>
          </a:p>
          <a:p>
            <a:pPr lvl="1">
              <a:lnSpc>
                <a:spcPct val="100000"/>
              </a:lnSpc>
              <a:spcAft>
                <a:spcPts val="800"/>
              </a:spcAft>
              <a:tabLst>
                <a:tab pos="914400" algn="l"/>
              </a:tabLs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0477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BCFD-9456-47B4-A27B-3FE0D60F1CEB}"/>
              </a:ext>
            </a:extLst>
          </p:cNvPr>
          <p:cNvSpPr>
            <a:spLocks noGrp="1"/>
          </p:cNvSpPr>
          <p:nvPr>
            <p:ph type="title"/>
          </p:nvPr>
        </p:nvSpPr>
        <p:spPr/>
        <p:txBody>
          <a:bodyPr>
            <a:normAutofit/>
          </a:bodyPr>
          <a:lstStyle/>
          <a:p>
            <a:pPr algn="ctr"/>
            <a:r>
              <a:rPr lang="en-IN" b="1" dirty="0">
                <a:solidFill>
                  <a:schemeClr val="accent5">
                    <a:lumMod val="50000"/>
                  </a:schemeClr>
                </a:solidFill>
                <a:latin typeface="Arial" panose="020B0604020202020204" pitchFamily="34" charset="0"/>
                <a:cs typeface="Arial" panose="020B0604020202020204" pitchFamily="34" charset="0"/>
              </a:rPr>
              <a:t>Strategic Recommendations</a:t>
            </a:r>
          </a:p>
        </p:txBody>
      </p:sp>
      <p:sp>
        <p:nvSpPr>
          <p:cNvPr id="3" name="Content Placeholder 2">
            <a:extLst>
              <a:ext uri="{FF2B5EF4-FFF2-40B4-BE49-F238E27FC236}">
                <a16:creationId xmlns:a16="http://schemas.microsoft.com/office/drawing/2014/main" id="{D5881DE7-5342-4E07-97C9-181D5BBB95D3}"/>
              </a:ext>
            </a:extLst>
          </p:cNvPr>
          <p:cNvSpPr>
            <a:spLocks noGrp="1"/>
          </p:cNvSpPr>
          <p:nvPr>
            <p:ph idx="1"/>
          </p:nvPr>
        </p:nvSpPr>
        <p:spPr>
          <a:xfrm>
            <a:off x="933450" y="1511300"/>
            <a:ext cx="10515600" cy="4351338"/>
          </a:xfrm>
        </p:spPr>
        <p:txBody>
          <a:bodyPr>
            <a:noAutofit/>
          </a:bodyPr>
          <a:lstStyle/>
          <a:p>
            <a:pPr marL="0" indent="0" algn="just">
              <a:lnSpc>
                <a:spcPct val="150000"/>
              </a:lnSpc>
              <a:buNone/>
            </a:pPr>
            <a:r>
              <a:rPr lang="en-IN" sz="2400" dirty="0">
                <a:solidFill>
                  <a:srgbClr val="000000"/>
                </a:solidFill>
                <a:effectLst/>
                <a:latin typeface="Times New Roman" panose="02020603050405020304" pitchFamily="18" charset="0"/>
                <a:ea typeface="Times New Roman" panose="02020603050405020304" pitchFamily="18" charset="0"/>
              </a:rPr>
              <a:t>The analysis reveals that property prices are mainly influenced by premium localities rather than property size. Approved properties are trending in the market as they generally have higher prices. Larger properties are not always more expensive per square feet, and the number of bedrooms (BHK) does not significantly impact price. Apartments show the highest demand compared to other property types such as villas and penthouses. Therefore, investors should focus more on high-demand localities and apartment segments for better market opportunities.</a:t>
            </a:r>
            <a:endParaRPr lang="en-IN" sz="2400" dirty="0"/>
          </a:p>
        </p:txBody>
      </p:sp>
    </p:spTree>
    <p:extLst>
      <p:ext uri="{BB962C8B-B14F-4D97-AF65-F5344CB8AC3E}">
        <p14:creationId xmlns:p14="http://schemas.microsoft.com/office/powerpoint/2010/main" val="2840845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775</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Consolas</vt:lpstr>
      <vt:lpstr>Times New Roman</vt:lpstr>
      <vt:lpstr>Office Theme</vt:lpstr>
      <vt:lpstr>Real Estate Market Analysis</vt:lpstr>
      <vt:lpstr>Business Background</vt:lpstr>
      <vt:lpstr>Business Questions</vt:lpstr>
      <vt:lpstr>Data Overview</vt:lpstr>
      <vt:lpstr>Solution Overview</vt:lpstr>
      <vt:lpstr>Outlier Analysis</vt:lpstr>
      <vt:lpstr>Answer to the Questions </vt:lpstr>
      <vt:lpstr>Which locality has the highest rate per square foot?</vt:lpstr>
      <vt:lpstr>Which builder sells most expensive properties?</vt:lpstr>
      <vt:lpstr>  Does approval status increase property value?</vt:lpstr>
      <vt:lpstr>Which flat type is most demanded?</vt:lpstr>
      <vt:lpstr>How does area impact price?</vt:lpstr>
      <vt:lpstr>Is there a statistically meaningful relationship between BHK configuration and property price?</vt:lpstr>
      <vt:lpstr>Executive Summary</vt:lpstr>
      <vt:lpstr>Strategic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Market Analysis</dc:title>
  <dc:creator>DELL</dc:creator>
  <cp:lastModifiedBy>DELL</cp:lastModifiedBy>
  <cp:revision>17</cp:revision>
  <dcterms:created xsi:type="dcterms:W3CDTF">2026-02-25T12:36:42Z</dcterms:created>
  <dcterms:modified xsi:type="dcterms:W3CDTF">2026-02-26T21:38:25Z</dcterms:modified>
</cp:coreProperties>
</file>